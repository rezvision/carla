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7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67"/>
  </p:normalViewPr>
  <p:slideViewPr>
    <p:cSldViewPr snapToGrid="0">
      <p:cViewPr>
        <p:scale>
          <a:sx n="99" d="100"/>
          <a:sy n="99" d="100"/>
        </p:scale>
        <p:origin x="-53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7FB2A9-2855-455D-97B7-E158F94255FE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1608D6-44BF-4110-A48C-9D62C04A9835}">
      <dgm:prSet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en-US" dirty="0"/>
            <a:t>Each Client Trains Locally:</a:t>
          </a:r>
          <a:br>
            <a:rPr lang="en-US" dirty="0"/>
          </a:br>
          <a:r>
            <a:rPr lang="en-US" dirty="0"/>
            <a:t>This is done on its own private data.</a:t>
          </a:r>
        </a:p>
      </dgm:t>
    </dgm:pt>
    <dgm:pt modelId="{88E52693-7E9A-49D1-9835-3275C933180A}" type="parTrans" cxnId="{89577EFF-8D9C-4B47-9EF7-F1D1B8079498}">
      <dgm:prSet/>
      <dgm:spPr/>
      <dgm:t>
        <a:bodyPr/>
        <a:lstStyle/>
        <a:p>
          <a:endParaRPr lang="en-US"/>
        </a:p>
      </dgm:t>
    </dgm:pt>
    <dgm:pt modelId="{0EABB439-93CB-42FD-A69E-C353D6A222E9}" type="sibTrans" cxnId="{89577EFF-8D9C-4B47-9EF7-F1D1B8079498}">
      <dgm:prSet/>
      <dgm:spPr/>
      <dgm:t>
        <a:bodyPr/>
        <a:lstStyle/>
        <a:p>
          <a:endParaRPr lang="en-US"/>
        </a:p>
      </dgm:t>
    </dgm:pt>
    <dgm:pt modelId="{B2091DA2-9AC4-4660-89FD-D19FD3ADD837}">
      <dgm:prSet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</a:gsLst>
        </a:gradFill>
      </dgm:spPr>
      <dgm:t>
        <a:bodyPr/>
        <a:lstStyle/>
        <a:p>
          <a:r>
            <a:rPr lang="en-US" dirty="0"/>
            <a:t>Client Uploads Model Updates:</a:t>
          </a:r>
          <a:br>
            <a:rPr lang="en-US" dirty="0"/>
          </a:br>
          <a:r>
            <a:rPr lang="en-GB" dirty="0"/>
            <a:t>These are</a:t>
          </a:r>
          <a:r>
            <a:rPr lang="en-US" dirty="0"/>
            <a:t> the training weights. </a:t>
          </a:r>
        </a:p>
      </dgm:t>
    </dgm:pt>
    <dgm:pt modelId="{150EF58A-6F70-498A-89E1-FBA4D232DF68}" type="parTrans" cxnId="{901B4C18-9EC0-4F62-B20C-0A4F4FAE6360}">
      <dgm:prSet/>
      <dgm:spPr/>
      <dgm:t>
        <a:bodyPr/>
        <a:lstStyle/>
        <a:p>
          <a:endParaRPr lang="en-US"/>
        </a:p>
      </dgm:t>
    </dgm:pt>
    <dgm:pt modelId="{6853DCD7-E0C0-4D15-89C1-0FFD2B99592D}" type="sibTrans" cxnId="{901B4C18-9EC0-4F62-B20C-0A4F4FAE6360}">
      <dgm:prSet/>
      <dgm:spPr/>
      <dgm:t>
        <a:bodyPr/>
        <a:lstStyle/>
        <a:p>
          <a:endParaRPr lang="en-US"/>
        </a:p>
      </dgm:t>
    </dgm:pt>
    <dgm:pt modelId="{E4A56670-05C0-4FA4-9E9C-78F395965443}">
      <dgm:prSet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en-US" dirty="0"/>
            <a:t>Server Aggregates:</a:t>
          </a:r>
          <a:br>
            <a:rPr lang="en-US" dirty="0"/>
          </a:br>
          <a:r>
            <a:rPr lang="en-US" dirty="0"/>
            <a:t>Using </a:t>
          </a:r>
          <a:r>
            <a:rPr lang="en-US" dirty="0" err="1"/>
            <a:t>FedAvg</a:t>
          </a:r>
          <a:r>
            <a:rPr lang="en-US" dirty="0"/>
            <a:t>.</a:t>
          </a:r>
        </a:p>
      </dgm:t>
    </dgm:pt>
    <dgm:pt modelId="{C137BB3F-1127-4650-94DD-383B309BB733}" type="parTrans" cxnId="{86893D15-537D-41D7-AA34-8BBFE8BD932A}">
      <dgm:prSet/>
      <dgm:spPr/>
      <dgm:t>
        <a:bodyPr/>
        <a:lstStyle/>
        <a:p>
          <a:endParaRPr lang="en-US"/>
        </a:p>
      </dgm:t>
    </dgm:pt>
    <dgm:pt modelId="{CD6E5C06-D53D-4127-984E-D39A206A5046}" type="sibTrans" cxnId="{86893D15-537D-41D7-AA34-8BBFE8BD932A}">
      <dgm:prSet/>
      <dgm:spPr/>
      <dgm:t>
        <a:bodyPr/>
        <a:lstStyle/>
        <a:p>
          <a:endParaRPr lang="en-US"/>
        </a:p>
      </dgm:t>
    </dgm:pt>
    <dgm:pt modelId="{02201500-7592-43BF-AB89-F5ABE55235E9}">
      <dgm:prSet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en-US" dirty="0"/>
            <a:t>Server Broadcasts the Global Model:</a:t>
          </a:r>
          <a:br>
            <a:rPr lang="en-US" dirty="0"/>
          </a:br>
          <a:r>
            <a:rPr lang="en-US" dirty="0"/>
            <a:t>This is </a:t>
          </a:r>
          <a:r>
            <a:rPr lang="en-GB" dirty="0"/>
            <a:t>broadcast</a:t>
          </a:r>
          <a:r>
            <a:rPr lang="en-US" dirty="0"/>
            <a:t> to select clients.</a:t>
          </a:r>
        </a:p>
      </dgm:t>
    </dgm:pt>
    <dgm:pt modelId="{69A7F684-B623-4161-87C8-1D31EB05757C}" type="parTrans" cxnId="{C9B89629-A1F9-4E1A-ABF1-54F27687D274}">
      <dgm:prSet/>
      <dgm:spPr/>
      <dgm:t>
        <a:bodyPr/>
        <a:lstStyle/>
        <a:p>
          <a:endParaRPr lang="en-US"/>
        </a:p>
      </dgm:t>
    </dgm:pt>
    <dgm:pt modelId="{A71FFB5F-4A5B-4F30-8CB7-C76980A767FB}" type="sibTrans" cxnId="{C9B89629-A1F9-4E1A-ABF1-54F27687D274}">
      <dgm:prSet/>
      <dgm:spPr/>
      <dgm:t>
        <a:bodyPr/>
        <a:lstStyle/>
        <a:p>
          <a:endParaRPr lang="en-US"/>
        </a:p>
      </dgm:t>
    </dgm:pt>
    <dgm:pt modelId="{3508220F-E01F-7C43-A51C-58CAB9FF9C68}" type="pres">
      <dgm:prSet presAssocID="{F57FB2A9-2855-455D-97B7-E158F94255FE}" presName="linear" presStyleCnt="0">
        <dgm:presLayoutVars>
          <dgm:animLvl val="lvl"/>
          <dgm:resizeHandles val="exact"/>
        </dgm:presLayoutVars>
      </dgm:prSet>
      <dgm:spPr/>
    </dgm:pt>
    <dgm:pt modelId="{78D4C507-8D88-6147-9FE8-6EFFB30124B2}" type="pres">
      <dgm:prSet presAssocID="{CE1608D6-44BF-4110-A48C-9D62C04A983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7AB47AF-7B08-9743-BF4A-80BC3C5FC750}" type="pres">
      <dgm:prSet presAssocID="{0EABB439-93CB-42FD-A69E-C353D6A222E9}" presName="spacer" presStyleCnt="0"/>
      <dgm:spPr/>
    </dgm:pt>
    <dgm:pt modelId="{DEE32DBE-D93A-5E4C-BB9D-29E42674AA70}" type="pres">
      <dgm:prSet presAssocID="{B2091DA2-9AC4-4660-89FD-D19FD3ADD83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D18CF18-E9D2-8843-8E18-E4D62EF7AE91}" type="pres">
      <dgm:prSet presAssocID="{6853DCD7-E0C0-4D15-89C1-0FFD2B99592D}" presName="spacer" presStyleCnt="0"/>
      <dgm:spPr/>
    </dgm:pt>
    <dgm:pt modelId="{650782D7-A350-814B-A2A4-491D2F53E3B1}" type="pres">
      <dgm:prSet presAssocID="{E4A56670-05C0-4FA4-9E9C-78F39596544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DAFA17C-81C9-794E-AD65-9C69F7CD1D5A}" type="pres">
      <dgm:prSet presAssocID="{CD6E5C06-D53D-4127-984E-D39A206A5046}" presName="spacer" presStyleCnt="0"/>
      <dgm:spPr/>
    </dgm:pt>
    <dgm:pt modelId="{1B9139B9-774B-AD4F-AFD9-40CADFF9A1CB}" type="pres">
      <dgm:prSet presAssocID="{02201500-7592-43BF-AB89-F5ABE55235E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6893D15-537D-41D7-AA34-8BBFE8BD932A}" srcId="{F57FB2A9-2855-455D-97B7-E158F94255FE}" destId="{E4A56670-05C0-4FA4-9E9C-78F395965443}" srcOrd="2" destOrd="0" parTransId="{C137BB3F-1127-4650-94DD-383B309BB733}" sibTransId="{CD6E5C06-D53D-4127-984E-D39A206A5046}"/>
    <dgm:cxn modelId="{901B4C18-9EC0-4F62-B20C-0A4F4FAE6360}" srcId="{F57FB2A9-2855-455D-97B7-E158F94255FE}" destId="{B2091DA2-9AC4-4660-89FD-D19FD3ADD837}" srcOrd="1" destOrd="0" parTransId="{150EF58A-6F70-498A-89E1-FBA4D232DF68}" sibTransId="{6853DCD7-E0C0-4D15-89C1-0FFD2B99592D}"/>
    <dgm:cxn modelId="{C9B89629-A1F9-4E1A-ABF1-54F27687D274}" srcId="{F57FB2A9-2855-455D-97B7-E158F94255FE}" destId="{02201500-7592-43BF-AB89-F5ABE55235E9}" srcOrd="3" destOrd="0" parTransId="{69A7F684-B623-4161-87C8-1D31EB05757C}" sibTransId="{A71FFB5F-4A5B-4F30-8CB7-C76980A767FB}"/>
    <dgm:cxn modelId="{DF912E3B-56F7-B14C-9D38-5E39B15CF3DF}" type="presOf" srcId="{B2091DA2-9AC4-4660-89FD-D19FD3ADD837}" destId="{DEE32DBE-D93A-5E4C-BB9D-29E42674AA70}" srcOrd="0" destOrd="0" presId="urn:microsoft.com/office/officeart/2005/8/layout/vList2"/>
    <dgm:cxn modelId="{DC728B5E-AC37-2045-BCDA-5F0B05EB9E16}" type="presOf" srcId="{02201500-7592-43BF-AB89-F5ABE55235E9}" destId="{1B9139B9-774B-AD4F-AFD9-40CADFF9A1CB}" srcOrd="0" destOrd="0" presId="urn:microsoft.com/office/officeart/2005/8/layout/vList2"/>
    <dgm:cxn modelId="{F03BF46C-70B3-E44E-9D8F-7CE56DEA725F}" type="presOf" srcId="{CE1608D6-44BF-4110-A48C-9D62C04A9835}" destId="{78D4C507-8D88-6147-9FE8-6EFFB30124B2}" srcOrd="0" destOrd="0" presId="urn:microsoft.com/office/officeart/2005/8/layout/vList2"/>
    <dgm:cxn modelId="{D3DA14D0-6C0F-514B-90B5-A3A5E9A5762F}" type="presOf" srcId="{E4A56670-05C0-4FA4-9E9C-78F395965443}" destId="{650782D7-A350-814B-A2A4-491D2F53E3B1}" srcOrd="0" destOrd="0" presId="urn:microsoft.com/office/officeart/2005/8/layout/vList2"/>
    <dgm:cxn modelId="{E554B8F6-C28A-A840-A12E-BE9CAA1DFA3B}" type="presOf" srcId="{F57FB2A9-2855-455D-97B7-E158F94255FE}" destId="{3508220F-E01F-7C43-A51C-58CAB9FF9C68}" srcOrd="0" destOrd="0" presId="urn:microsoft.com/office/officeart/2005/8/layout/vList2"/>
    <dgm:cxn modelId="{89577EFF-8D9C-4B47-9EF7-F1D1B8079498}" srcId="{F57FB2A9-2855-455D-97B7-E158F94255FE}" destId="{CE1608D6-44BF-4110-A48C-9D62C04A9835}" srcOrd="0" destOrd="0" parTransId="{88E52693-7E9A-49D1-9835-3275C933180A}" sibTransId="{0EABB439-93CB-42FD-A69E-C353D6A222E9}"/>
    <dgm:cxn modelId="{04573F04-FB93-D242-A64C-A7D392C3B762}" type="presParOf" srcId="{3508220F-E01F-7C43-A51C-58CAB9FF9C68}" destId="{78D4C507-8D88-6147-9FE8-6EFFB30124B2}" srcOrd="0" destOrd="0" presId="urn:microsoft.com/office/officeart/2005/8/layout/vList2"/>
    <dgm:cxn modelId="{B73D57B7-27BF-B843-87D8-93CA4035790B}" type="presParOf" srcId="{3508220F-E01F-7C43-A51C-58CAB9FF9C68}" destId="{F7AB47AF-7B08-9743-BF4A-80BC3C5FC750}" srcOrd="1" destOrd="0" presId="urn:microsoft.com/office/officeart/2005/8/layout/vList2"/>
    <dgm:cxn modelId="{AD180721-7B78-5C49-89B9-B755F1B7ECF5}" type="presParOf" srcId="{3508220F-E01F-7C43-A51C-58CAB9FF9C68}" destId="{DEE32DBE-D93A-5E4C-BB9D-29E42674AA70}" srcOrd="2" destOrd="0" presId="urn:microsoft.com/office/officeart/2005/8/layout/vList2"/>
    <dgm:cxn modelId="{5A7DA14F-3D1A-AD40-BF8A-BF9300E7050C}" type="presParOf" srcId="{3508220F-E01F-7C43-A51C-58CAB9FF9C68}" destId="{0D18CF18-E9D2-8843-8E18-E4D62EF7AE91}" srcOrd="3" destOrd="0" presId="urn:microsoft.com/office/officeart/2005/8/layout/vList2"/>
    <dgm:cxn modelId="{16C79CDA-94A4-C84C-B142-63D3442F7C1D}" type="presParOf" srcId="{3508220F-E01F-7C43-A51C-58CAB9FF9C68}" destId="{650782D7-A350-814B-A2A4-491D2F53E3B1}" srcOrd="4" destOrd="0" presId="urn:microsoft.com/office/officeart/2005/8/layout/vList2"/>
    <dgm:cxn modelId="{FB31B69C-B094-4940-88BB-B7A6458EAE79}" type="presParOf" srcId="{3508220F-E01F-7C43-A51C-58CAB9FF9C68}" destId="{CDAFA17C-81C9-794E-AD65-9C69F7CD1D5A}" srcOrd="5" destOrd="0" presId="urn:microsoft.com/office/officeart/2005/8/layout/vList2"/>
    <dgm:cxn modelId="{6D7CB67C-908D-8140-8098-966F0FD93B62}" type="presParOf" srcId="{3508220F-E01F-7C43-A51C-58CAB9FF9C68}" destId="{1B9139B9-774B-AD4F-AFD9-40CADFF9A1C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D4C507-8D88-6147-9FE8-6EFFB30124B2}">
      <dsp:nvSpPr>
        <dsp:cNvPr id="0" name=""/>
        <dsp:cNvSpPr/>
      </dsp:nvSpPr>
      <dsp:spPr>
        <a:xfrm>
          <a:off x="0" y="1740"/>
          <a:ext cx="11253668" cy="11138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Each Client Trains Locally:</a:t>
          </a:r>
          <a:br>
            <a:rPr lang="en-US" sz="2800" kern="1200" dirty="0"/>
          </a:br>
          <a:r>
            <a:rPr lang="en-US" sz="2800" kern="1200" dirty="0"/>
            <a:t>This is done on its own private data.</a:t>
          </a:r>
        </a:p>
      </dsp:txBody>
      <dsp:txXfrm>
        <a:off x="54373" y="56113"/>
        <a:ext cx="11144922" cy="1005094"/>
      </dsp:txXfrm>
    </dsp:sp>
    <dsp:sp modelId="{DEE32DBE-D93A-5E4C-BB9D-29E42674AA70}">
      <dsp:nvSpPr>
        <dsp:cNvPr id="0" name=""/>
        <dsp:cNvSpPr/>
      </dsp:nvSpPr>
      <dsp:spPr>
        <a:xfrm>
          <a:off x="0" y="1196220"/>
          <a:ext cx="11253668" cy="11138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Client Uploads Model Updates:</a:t>
          </a:r>
          <a:br>
            <a:rPr lang="en-US" sz="2800" kern="1200" dirty="0"/>
          </a:br>
          <a:r>
            <a:rPr lang="en-GB" sz="2800" kern="1200" dirty="0"/>
            <a:t>These are</a:t>
          </a:r>
          <a:r>
            <a:rPr lang="en-US" sz="2800" kern="1200" dirty="0"/>
            <a:t> the training weights. </a:t>
          </a:r>
        </a:p>
      </dsp:txBody>
      <dsp:txXfrm>
        <a:off x="54373" y="1250593"/>
        <a:ext cx="11144922" cy="1005094"/>
      </dsp:txXfrm>
    </dsp:sp>
    <dsp:sp modelId="{650782D7-A350-814B-A2A4-491D2F53E3B1}">
      <dsp:nvSpPr>
        <dsp:cNvPr id="0" name=""/>
        <dsp:cNvSpPr/>
      </dsp:nvSpPr>
      <dsp:spPr>
        <a:xfrm>
          <a:off x="0" y="2390700"/>
          <a:ext cx="11253668" cy="11138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Server Aggregates:</a:t>
          </a:r>
          <a:br>
            <a:rPr lang="en-US" sz="2800" kern="1200" dirty="0"/>
          </a:br>
          <a:r>
            <a:rPr lang="en-US" sz="2800" kern="1200" dirty="0"/>
            <a:t>Using </a:t>
          </a:r>
          <a:r>
            <a:rPr lang="en-US" sz="2800" kern="1200" dirty="0" err="1"/>
            <a:t>FedAvg</a:t>
          </a:r>
          <a:r>
            <a:rPr lang="en-US" sz="2800" kern="1200" dirty="0"/>
            <a:t>.</a:t>
          </a:r>
        </a:p>
      </dsp:txBody>
      <dsp:txXfrm>
        <a:off x="54373" y="2445073"/>
        <a:ext cx="11144922" cy="1005094"/>
      </dsp:txXfrm>
    </dsp:sp>
    <dsp:sp modelId="{1B9139B9-774B-AD4F-AFD9-40CADFF9A1CB}">
      <dsp:nvSpPr>
        <dsp:cNvPr id="0" name=""/>
        <dsp:cNvSpPr/>
      </dsp:nvSpPr>
      <dsp:spPr>
        <a:xfrm>
          <a:off x="0" y="3585180"/>
          <a:ext cx="11253668" cy="11138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Server Broadcasts the Global Model:</a:t>
          </a:r>
          <a:br>
            <a:rPr lang="en-US" sz="2800" kern="1200" dirty="0"/>
          </a:br>
          <a:r>
            <a:rPr lang="en-US" sz="2800" kern="1200" dirty="0"/>
            <a:t>This is </a:t>
          </a:r>
          <a:r>
            <a:rPr lang="en-GB" sz="2800" kern="1200" dirty="0"/>
            <a:t>broadcast</a:t>
          </a:r>
          <a:r>
            <a:rPr lang="en-US" sz="2800" kern="1200" dirty="0"/>
            <a:t> to select clients.</a:t>
          </a:r>
        </a:p>
      </dsp:txBody>
      <dsp:txXfrm>
        <a:off x="54373" y="3639553"/>
        <a:ext cx="11144922" cy="10050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44171-F725-3D40-AE99-CA0EC69947CD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CAAD5-B258-7747-94B6-006242225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33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Client Uploads Model Updates:</a:t>
            </a:r>
            <a:br>
              <a:rPr lang="en-US" dirty="0"/>
            </a:br>
            <a:r>
              <a:rPr lang="en-GB" dirty="0"/>
              <a:t>These are</a:t>
            </a:r>
            <a:r>
              <a:rPr lang="en-US" dirty="0"/>
              <a:t> the training weights. (Never the raw data).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Server Aggregates:</a:t>
            </a:r>
            <a:br>
              <a:rPr lang="en-US" dirty="0"/>
            </a:br>
            <a:r>
              <a:rPr lang="en-US" dirty="0"/>
              <a:t>Using </a:t>
            </a:r>
            <a:r>
              <a:rPr lang="en-US" dirty="0" err="1"/>
              <a:t>FedAvg</a:t>
            </a:r>
            <a:r>
              <a:rPr lang="en-US" dirty="0"/>
              <a:t> (Sampled Weighted mean of the </a:t>
            </a:r>
            <a:r>
              <a:rPr lang="en-GB" dirty="0"/>
              <a:t>updates,</a:t>
            </a:r>
            <a:r>
              <a:rPr lang="en-US" dirty="0"/>
              <a:t> producing a new global model).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CAAD5-B258-7747-94B6-0062422250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8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 gradient is computed directly from the local training data. (Therefore, the GL vulnerability takes place during Training and not deployment).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CAAD5-B258-7747-94B6-0062422250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97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472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942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55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232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E994A23-0EFF-404D-A2C5-6B54939039AD}" type="datetime1">
              <a:rPr lang="en-US" smtClean="0"/>
              <a:t>7/22/26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92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813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740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5641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4888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296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567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206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458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8941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0745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09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391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9438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582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585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8024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5531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874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8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79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957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175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EBBFFC98-ED13-7E47-9679-80ADAF1471BC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78F5E51F-4756-0843-89C3-39234DBEA5C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31763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  <p:sldLayoutId id="2147483949" r:id="rId12"/>
    <p:sldLayoutId id="2147483950" r:id="rId13"/>
    <p:sldLayoutId id="2147483951" r:id="rId14"/>
    <p:sldLayoutId id="2147483952" r:id="rId15"/>
    <p:sldLayoutId id="2147483953" r:id="rId16"/>
    <p:sldLayoutId id="2147483954" r:id="rId17"/>
    <p:sldLayoutId id="2147483955" r:id="rId18"/>
    <p:sldLayoutId id="2147483956" r:id="rId19"/>
    <p:sldLayoutId id="2147483957" r:id="rId20"/>
    <p:sldLayoutId id="2147483958" r:id="rId21"/>
    <p:sldLayoutId id="2147483959" r:id="rId22"/>
    <p:sldLayoutId id="2147483960" r:id="rId23"/>
    <p:sldLayoutId id="2147483961" r:id="rId24"/>
    <p:sldLayoutId id="2147483962" r:id="rId25"/>
    <p:sldLayoutId id="2147483963" r:id="rId26"/>
    <p:sldLayoutId id="2147483964" r:id="rId27"/>
    <p:sldLayoutId id="2147483965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EE3D-9CC9-751A-2427-7E17E47C0B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Gradient Leakage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7AD97-FF7F-AEBB-995A-A5C1CC808D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Zak Boulaich</a:t>
            </a:r>
          </a:p>
        </p:txBody>
      </p:sp>
    </p:spTree>
    <p:extLst>
      <p:ext uri="{BB962C8B-B14F-4D97-AF65-F5344CB8AC3E}">
        <p14:creationId xmlns:p14="http://schemas.microsoft.com/office/powerpoint/2010/main" val="3538948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5C1A6-7AEC-C2B3-42BD-DB083EED6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Motivation – Why have I spent time on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C8BDF-CA89-5D30-2DCE-F22118C49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/>
              <a:t>To fully grasp the </a:t>
            </a:r>
            <a:r>
              <a:rPr lang="en-US" sz="3200" dirty="0" err="1"/>
              <a:t>defences</a:t>
            </a:r>
            <a:r>
              <a:rPr lang="en-US" sz="3200" dirty="0"/>
              <a:t> needed to protect the user's data, I first had to understand the attack they defend against.</a:t>
            </a:r>
          </a:p>
          <a:p>
            <a:r>
              <a:rPr lang="en-US" sz="3200" dirty="0"/>
              <a:t>By understanding Gradient Leakage (GL), I could grasp the risks to the data and the strongest attacks that may occur.</a:t>
            </a:r>
          </a:p>
          <a:p>
            <a:r>
              <a:rPr lang="en-US" sz="3200" dirty="0"/>
              <a:t>GL targets the shared updates that my Privacy Enhancing Technology (PET) aims to protect.</a:t>
            </a:r>
          </a:p>
          <a:p>
            <a:r>
              <a:rPr lang="en-US" sz="3200" dirty="0"/>
              <a:t>This allows us to understand when Federated Learning (FL) is safe on its own, and when extra </a:t>
            </a:r>
            <a:r>
              <a:rPr lang="en-US" sz="3200" dirty="0" err="1"/>
              <a:t>defences</a:t>
            </a:r>
            <a:r>
              <a:rPr lang="en-US" sz="3200" dirty="0"/>
              <a:t> are worth adding.</a:t>
            </a:r>
          </a:p>
        </p:txBody>
      </p:sp>
    </p:spTree>
    <p:extLst>
      <p:ext uri="{BB962C8B-B14F-4D97-AF65-F5344CB8AC3E}">
        <p14:creationId xmlns:p14="http://schemas.microsoft.com/office/powerpoint/2010/main" val="463957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143AD-EEB1-58D4-6091-5B39B8E6C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>
            <a:normAutofit/>
          </a:bodyPr>
          <a:lstStyle/>
          <a:p>
            <a:r>
              <a:rPr lang="en-US" dirty="0"/>
              <a:t>Background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29CBB9-A4A9-681B-6CDF-6FE3BD57AF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1430095"/>
              </p:ext>
            </p:extLst>
          </p:nvPr>
        </p:nvGraphicFramePr>
        <p:xfrm>
          <a:off x="402336" y="1488931"/>
          <a:ext cx="11253668" cy="4700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U-turn Arrow 3">
            <a:extLst>
              <a:ext uri="{FF2B5EF4-FFF2-40B4-BE49-F238E27FC236}">
                <a16:creationId xmlns:a16="http://schemas.microsoft.com/office/drawing/2014/main" id="{BCC22A41-C718-F1AB-A86E-30AE8653C6C3}"/>
              </a:ext>
            </a:extLst>
          </p:cNvPr>
          <p:cNvSpPr/>
          <p:nvPr/>
        </p:nvSpPr>
        <p:spPr>
          <a:xfrm rot="16200000" flipV="1">
            <a:off x="10002763" y="3332233"/>
            <a:ext cx="3137499" cy="936172"/>
          </a:xfrm>
          <a:prstGeom prst="uturnArrow">
            <a:avLst>
              <a:gd name="adj1" fmla="val 23837"/>
              <a:gd name="adj2" fmla="val 25000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A8E89F04-BB96-AC67-EFA8-2C1B39427FEE}"/>
              </a:ext>
            </a:extLst>
          </p:cNvPr>
          <p:cNvSpPr/>
          <p:nvPr/>
        </p:nvSpPr>
        <p:spPr>
          <a:xfrm>
            <a:off x="6368136" y="2344360"/>
            <a:ext cx="457200" cy="68580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741A68F2-83ED-1FEB-0150-F5FA867EBD8A}"/>
              </a:ext>
            </a:extLst>
          </p:cNvPr>
          <p:cNvSpPr/>
          <p:nvPr/>
        </p:nvSpPr>
        <p:spPr>
          <a:xfrm>
            <a:off x="6346368" y="3496411"/>
            <a:ext cx="457200" cy="68580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569B05A7-9F5C-D78E-EC71-CB2E99391241}"/>
              </a:ext>
            </a:extLst>
          </p:cNvPr>
          <p:cNvSpPr/>
          <p:nvPr/>
        </p:nvSpPr>
        <p:spPr>
          <a:xfrm>
            <a:off x="6346365" y="4648462"/>
            <a:ext cx="457200" cy="68580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5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AA1BE-5DE4-770B-D038-628F0B37C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Gradient Leakage?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0B3F1-8DFF-1409-E752-8A4DAB49D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6200" dirty="0"/>
              <a:t>A gradient is computed directly from the local training data. </a:t>
            </a:r>
          </a:p>
          <a:p>
            <a:r>
              <a:rPr lang="en-US" sz="6200" dirty="0"/>
              <a:t>Our Neural Network uses the raw data directly during training through the teacher-forced learning it implements.</a:t>
            </a:r>
          </a:p>
          <a:p>
            <a:pPr marL="0" indent="0">
              <a:buNone/>
            </a:pPr>
            <a:endParaRPr lang="en-US" sz="6200" dirty="0"/>
          </a:p>
          <a:p>
            <a:endParaRPr lang="en-US" sz="6200" dirty="0"/>
          </a:p>
          <a:p>
            <a:r>
              <a:rPr lang="en-US" sz="6200" dirty="0"/>
              <a:t>Because our gradients are directly derived from the raw data input, this creates a vulnerability where the input data leaves traces across the entire network.</a:t>
            </a:r>
          </a:p>
          <a:p>
            <a:r>
              <a:rPr lang="en-US" sz="6200" dirty="0"/>
              <a:t>The attacker can interpret these gradients and invert the </a:t>
            </a:r>
            <a:r>
              <a:rPr lang="en-US" sz="6200" dirty="0" err="1"/>
              <a:t>optimisation</a:t>
            </a:r>
            <a:r>
              <a:rPr lang="en-US" sz="6200" dirty="0"/>
              <a:t> process that took place. Thus, the attacker can use them to reconstruct the original inputs and their labels.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14D52C-D762-92D0-AC44-ACC0A17CD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552" y="3120500"/>
            <a:ext cx="3300000" cy="61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3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FBD80-A097-D127-41EC-72FF8C1D4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EC98D-45DA-BF2A-77BC-AE4661C15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100" dirty="0"/>
              <a:t>We have two assumed threat models for GL:</a:t>
            </a:r>
          </a:p>
          <a:p>
            <a:pPr lvl="1"/>
            <a:r>
              <a:rPr lang="en-US" sz="3100" dirty="0"/>
              <a:t>Honest-But-Curious server: The server that executes the FL follows the protocol correctly but actively analyses the clients' updates it receives to mine private data.</a:t>
            </a:r>
          </a:p>
          <a:p>
            <a:pPr lvl="1"/>
            <a:r>
              <a:rPr lang="en-US" sz="3100" dirty="0"/>
              <a:t>Passive Eavesdropper: A malicious third-party intercepts network traffic on the communication channel between the vehicles and the server. </a:t>
            </a:r>
          </a:p>
          <a:p>
            <a:r>
              <a:rPr lang="en-US" sz="3100" dirty="0"/>
              <a:t>We assume that the attacker has full access to the global model architecture, gradients and weights. (</a:t>
            </a:r>
            <a:r>
              <a:rPr lang="en-GB" sz="3100" dirty="0"/>
              <a:t>Which is inherently public/shared in Federated Learning)</a:t>
            </a:r>
          </a:p>
          <a:p>
            <a:r>
              <a:rPr lang="en-GB" sz="3100" dirty="0"/>
              <a:t>Note: An attacker can manipulate weights or inject malicious network layers to aggressively force client data to leak at higher rates. But for this presentation, we assume a passive attacker.</a:t>
            </a:r>
            <a:endParaRPr lang="en-US" sz="3100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27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044E-51CD-4457-9957-507C20599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the attacks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2511F-B480-74CB-A48D-34902C834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Because neural networks are non-linear, an attacker cannot analytically invert the math. Instead, the attacker treats this as a search </a:t>
            </a:r>
            <a:r>
              <a:rPr lang="en-US" sz="2000" dirty="0" err="1"/>
              <a:t>optimisation</a:t>
            </a:r>
            <a:r>
              <a:rPr lang="en-US" sz="2000" dirty="0"/>
              <a:t> problem. To do this, they take the following steps:</a:t>
            </a:r>
          </a:p>
          <a:p>
            <a:pPr lvl="1"/>
            <a:r>
              <a:rPr lang="en-US" sz="2000" dirty="0"/>
              <a:t>Guess: Start with a dummy input.</a:t>
            </a:r>
          </a:p>
          <a:p>
            <a:pPr lvl="1"/>
            <a:r>
              <a:rPr lang="en-US" sz="2000" dirty="0"/>
              <a:t>Compute: Pass the dummy input through the model and calculate its gradient. </a:t>
            </a:r>
          </a:p>
          <a:p>
            <a:pPr lvl="1"/>
            <a:r>
              <a:rPr lang="en-US" sz="2000" dirty="0"/>
              <a:t>Compare: Evaluate how close the dummy gradient is to the stolen gradient.</a:t>
            </a:r>
          </a:p>
          <a:p>
            <a:pPr lvl="1"/>
            <a:r>
              <a:rPr lang="en-US" sz="2000" dirty="0"/>
              <a:t>Guide: Use backpropagation to tweak the dummy input to get closer to the stolen gradient. </a:t>
            </a:r>
          </a:p>
          <a:p>
            <a:pPr lvl="1"/>
            <a:r>
              <a:rPr lang="en-US" sz="2000" dirty="0"/>
              <a:t>Repeat: Until the dummy gradients match the stolen gradients; therefore, the dummy input should match the real input. </a:t>
            </a:r>
          </a:p>
          <a:p>
            <a:r>
              <a:rPr lang="en-US" sz="2000" dirty="0"/>
              <a:t>Note: there are thousands of gradients for the attacker to work with. This is like having thousands of clues to a puzzle, allowing for more accurate reconstruction of the real input.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13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9EC17-61B7-A2FD-EAA7-36C2DDEAC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Gradient Leakage </a:t>
            </a:r>
            <a:r>
              <a:rPr lang="en-US" dirty="0" err="1"/>
              <a:t>Optimisation</a:t>
            </a:r>
            <a:r>
              <a:rPr lang="en-US" dirty="0"/>
              <a:t> Technique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B5A02-4450-570A-1F53-874425586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000" dirty="0"/>
              <a:t>The attacker turns reconstruction into an </a:t>
            </a:r>
            <a:r>
              <a:rPr lang="en-US" sz="2000" dirty="0" err="1"/>
              <a:t>optimisation</a:t>
            </a:r>
            <a:r>
              <a:rPr lang="en-US" sz="2000" dirty="0"/>
              <a:t> problem, </a:t>
            </a:r>
            <a:r>
              <a:rPr lang="en-US" sz="2000" dirty="0" err="1"/>
              <a:t>minimising</a:t>
            </a:r>
            <a:r>
              <a:rPr lang="en-US" sz="2000" dirty="0"/>
              <a:t> the difference between their dummy gradient and the stolen gradient. The objective they </a:t>
            </a:r>
            <a:r>
              <a:rPr lang="en-US" sz="2000" dirty="0" err="1"/>
              <a:t>minimise</a:t>
            </a:r>
            <a:r>
              <a:rPr lang="en-US" sz="2000" dirty="0"/>
              <a:t> is:</a:t>
            </a:r>
          </a:p>
          <a:p>
            <a:r>
              <a:rPr lang="en-US" sz="2000" dirty="0"/>
              <a:t>L(x*) = ( 1 − cos(g*, g) ) + λ · TV(x*)</a:t>
            </a:r>
          </a:p>
          <a:p>
            <a:r>
              <a:rPr lang="en-US" sz="2000" dirty="0"/>
              <a:t>Each term plays a role:</a:t>
            </a:r>
          </a:p>
          <a:p>
            <a:pPr lvl="1"/>
            <a:r>
              <a:rPr lang="en-US" sz="2000" dirty="0"/>
              <a:t>Random Restarts: The objective is non-convex, so the attack runs from several random starting points and keeps the best result, ranked by attack loss.</a:t>
            </a:r>
          </a:p>
          <a:p>
            <a:pPr lvl="1"/>
            <a:r>
              <a:rPr lang="en-US" sz="2000" dirty="0"/>
              <a:t>Adam </a:t>
            </a:r>
            <a:r>
              <a:rPr lang="en-US" sz="2000" dirty="0" err="1"/>
              <a:t>Optimiser</a:t>
            </a:r>
            <a:r>
              <a:rPr lang="en-US" sz="2000" dirty="0"/>
              <a:t>: Iteratively tweaks the dummy input until the gradients align. </a:t>
            </a:r>
          </a:p>
          <a:p>
            <a:pPr lvl="1"/>
            <a:r>
              <a:rPr lang="en-US" sz="2000" dirty="0"/>
              <a:t>Cosine Similarity: Gradients from different layers vary hugely in magnitude, so only their direction is reliable. Cosine compares direction and ignores scale, unlike an L2 distance, which the largest layers would dominate.</a:t>
            </a:r>
          </a:p>
          <a:p>
            <a:pPr lvl="1"/>
            <a:r>
              <a:rPr lang="en-US" sz="2000" dirty="0"/>
              <a:t>Total Variation (TV): This is the added penalty term in the loss function that enforces the reconstructed data to look clean and realistic. It </a:t>
            </a:r>
            <a:r>
              <a:rPr lang="en-US" sz="2000" dirty="0" err="1"/>
              <a:t>favours</a:t>
            </a:r>
            <a:r>
              <a:rPr lang="en-US" sz="2000" dirty="0"/>
              <a:t> smooth, plausible inputs and breaks ties between dummy inputs that match the gradient equally well.</a:t>
            </a:r>
          </a:p>
          <a:p>
            <a:r>
              <a:rPr lang="en-US" sz="2000" dirty="0"/>
              <a:t>This is then repeated until the dummy gradient aligns with the stolen gradient.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8763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1D34-20C1-5150-59A2-D76006390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gradient Leakage easier or harder?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1CF97A-CC6A-CC1D-3E78-125270010A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650941"/>
              </p:ext>
            </p:extLst>
          </p:nvPr>
        </p:nvGraphicFramePr>
        <p:xfrm>
          <a:off x="401638" y="1489075"/>
          <a:ext cx="11251708" cy="50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5854">
                  <a:extLst>
                    <a:ext uri="{9D8B030D-6E8A-4147-A177-3AD203B41FA5}">
                      <a16:colId xmlns:a16="http://schemas.microsoft.com/office/drawing/2014/main" val="386603817"/>
                    </a:ext>
                  </a:extLst>
                </a:gridCol>
                <a:gridCol w="5625854">
                  <a:extLst>
                    <a:ext uri="{9D8B030D-6E8A-4147-A177-3AD203B41FA5}">
                      <a16:colId xmlns:a16="http://schemas.microsoft.com/office/drawing/2014/main" val="2007711447"/>
                    </a:ext>
                  </a:extLst>
                </a:gridCol>
              </a:tblGrid>
              <a:tr h="676051">
                <a:tc>
                  <a:txBody>
                    <a:bodyPr/>
                    <a:lstStyle/>
                    <a:p>
                      <a:r>
                        <a:rPr lang="en-US" sz="2000" dirty="0"/>
                        <a:t>Easier (Improves Leakage)</a:t>
                      </a:r>
                    </a:p>
                  </a:txBody>
                  <a:tcPr marL="97858" marR="9785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Harder (Mitigate Leakage)</a:t>
                      </a:r>
                    </a:p>
                  </a:txBody>
                  <a:tcPr marL="97858" marR="97858"/>
                </a:tc>
                <a:extLst>
                  <a:ext uri="{0D108BD9-81ED-4DB2-BD59-A6C34878D82A}">
                    <a16:rowId xmlns:a16="http://schemas.microsoft.com/office/drawing/2014/main" val="2906222180"/>
                  </a:ext>
                </a:extLst>
              </a:tr>
              <a:tr h="944619">
                <a:tc>
                  <a:txBody>
                    <a:bodyPr/>
                    <a:lstStyle/>
                    <a:p>
                      <a:r>
                        <a:rPr lang="en-US" sz="2000" dirty="0"/>
                        <a:t>Batch Size of 1: The gradient comes from a single sample, leaving that data exposed.</a:t>
                      </a:r>
                    </a:p>
                  </a:txBody>
                  <a:tcPr marL="97858" marR="9785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Large Batch Size: Gradients are averaged over hundreds of windows, blurring the individual data together.</a:t>
                      </a:r>
                    </a:p>
                  </a:txBody>
                  <a:tcPr marL="97858" marR="97858"/>
                </a:tc>
                <a:extLst>
                  <a:ext uri="{0D108BD9-81ED-4DB2-BD59-A6C34878D82A}">
                    <a16:rowId xmlns:a16="http://schemas.microsoft.com/office/drawing/2014/main" val="2386302887"/>
                  </a:ext>
                </a:extLst>
              </a:tr>
              <a:tr h="944619">
                <a:tc>
                  <a:txBody>
                    <a:bodyPr/>
                    <a:lstStyle/>
                    <a:p>
                      <a:r>
                        <a:rPr lang="en-US" sz="2000" dirty="0"/>
                        <a:t>Single Local Step: The car calculates a gradient and immediately broadcasts it after a single gradient descent step.</a:t>
                      </a:r>
                    </a:p>
                  </a:txBody>
                  <a:tcPr marL="97858" marR="9785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Multiple Local Steps: The vehicle performs multiple gradient descent steps (e.g., 5 epochs), sharing an aggregated update.</a:t>
                      </a:r>
                    </a:p>
                  </a:txBody>
                  <a:tcPr marL="97858" marR="97858"/>
                </a:tc>
                <a:extLst>
                  <a:ext uri="{0D108BD9-81ED-4DB2-BD59-A6C34878D82A}">
                    <a16:rowId xmlns:a16="http://schemas.microsoft.com/office/drawing/2014/main" val="3800424037"/>
                  </a:ext>
                </a:extLst>
              </a:tr>
              <a:tr h="1008530">
                <a:tc>
                  <a:txBody>
                    <a:bodyPr/>
                    <a:lstStyle/>
                    <a:p>
                      <a:r>
                        <a:rPr lang="en-US" sz="2000" dirty="0"/>
                        <a:t>No Noise: The vehicle broadcasts its gradients or weight updates across the network with no noise or precaution.</a:t>
                      </a:r>
                    </a:p>
                  </a:txBody>
                  <a:tcPr marL="97858" marR="9785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Added Noise: Differential Privacy injects noise, distorting the gradients or weight updates before broadcasting.</a:t>
                      </a:r>
                    </a:p>
                  </a:txBody>
                  <a:tcPr marL="97858" marR="97858"/>
                </a:tc>
                <a:extLst>
                  <a:ext uri="{0D108BD9-81ED-4DB2-BD59-A6C34878D82A}">
                    <a16:rowId xmlns:a16="http://schemas.microsoft.com/office/drawing/2014/main" val="2320720338"/>
                  </a:ext>
                </a:extLst>
              </a:tr>
              <a:tr h="1333579">
                <a:tc>
                  <a:txBody>
                    <a:bodyPr/>
                    <a:lstStyle/>
                    <a:p>
                      <a:r>
                        <a:rPr lang="en-US" sz="2000" dirty="0"/>
                        <a:t>White Box Access: The attacker can mirror the vehicle's internal model that computes the gradients (assuming access to architecture, weights, activation functions, etc.).</a:t>
                      </a:r>
                    </a:p>
                  </a:txBody>
                  <a:tcPr marL="97858" marR="9785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Secure Aggregation: A cryptographic protocol where updates are encrypted client-side, letting the server compute the aggregated sum without ever decrypting a single vehicle's update.</a:t>
                      </a:r>
                    </a:p>
                  </a:txBody>
                  <a:tcPr marL="97858" marR="97858"/>
                </a:tc>
                <a:extLst>
                  <a:ext uri="{0D108BD9-81ED-4DB2-BD59-A6C34878D82A}">
                    <a16:rowId xmlns:a16="http://schemas.microsoft.com/office/drawing/2014/main" val="179071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81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E2B2D-F8AC-846F-93F3-79F6D2360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PET </a:t>
            </a:r>
            <a:r>
              <a:rPr lang="en-US" dirty="0"/>
              <a:t>Solution (DP)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8A5CA-F9EF-1B1A-25EF-8E7E295C5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 dirty="0"/>
              <a:t>Differential Privacy is applied client-side, on the vehicle itself, across input, gradient and output perturbation. Because our threat model assumption, the noise must be added before any update leaves the device.</a:t>
            </a:r>
          </a:p>
          <a:p>
            <a:r>
              <a:rPr lang="en-US" sz="2000" dirty="0"/>
              <a:t>Use gradient clipping to prevent outlier data points from having a major influence over the model updates.</a:t>
            </a:r>
          </a:p>
          <a:p>
            <a:r>
              <a:rPr lang="en-US" sz="2000" dirty="0"/>
              <a:t>Add noise to the clipped gradients, calibrated to that clipping bound so the privacy budget is meaningful.</a:t>
            </a:r>
          </a:p>
          <a:p>
            <a:r>
              <a:rPr lang="en-US" sz="2000" dirty="0"/>
              <a:t>Together these give (ε, δ)-Differential Privacy: a provable upper bound on how much an attacker can learn about any individual sample, rather than hoping the noise is enough.</a:t>
            </a:r>
          </a:p>
          <a:p>
            <a:r>
              <a:rPr lang="en-US" sz="2000" dirty="0"/>
              <a:t>The trade-off is utility. More noise means stronger privacy but a less accurate model, which for an IDS means missed intrusions or more false alarms, so </a:t>
            </a:r>
            <a:r>
              <a:rPr lang="en-US" sz="2000" dirty="0" err="1"/>
              <a:t>ε</a:t>
            </a:r>
            <a:r>
              <a:rPr lang="en-US" sz="2000" dirty="0"/>
              <a:t> can be fine-tuned to </a:t>
            </a:r>
            <a:r>
              <a:rPr lang="en-US" sz="2000" dirty="0" err="1"/>
              <a:t>optimise</a:t>
            </a:r>
            <a:r>
              <a:rPr lang="en-US" sz="2000" dirty="0"/>
              <a:t> the privacy-utility trade-off. </a:t>
            </a:r>
          </a:p>
          <a:p>
            <a:r>
              <a:rPr lang="en-US" sz="2000" dirty="0"/>
              <a:t>Note: To evaluate this, we run the leakage attack with DP, plotting reconstruction quality against </a:t>
            </a:r>
            <a:r>
              <a:rPr lang="en-US" sz="2000" dirty="0" err="1"/>
              <a:t>ε</a:t>
            </a:r>
            <a:r>
              <a:rPr lang="en-US" sz="2000" dirty="0"/>
              <a:t> to show how much protection each privacy budget buys.</a:t>
            </a:r>
          </a:p>
        </p:txBody>
      </p:sp>
    </p:spTree>
    <p:extLst>
      <p:ext uri="{BB962C8B-B14F-4D97-AF65-F5344CB8AC3E}">
        <p14:creationId xmlns:p14="http://schemas.microsoft.com/office/powerpoint/2010/main" val="328144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88DD7-0493-8838-7B41-F58361024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anchor="t">
            <a:normAutofit/>
          </a:bodyPr>
          <a:lstStyle/>
          <a:p>
            <a:r>
              <a:rPr lang="en-US" dirty="0"/>
              <a:t>Thank you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619493-3430-14D1-22D3-A8D20675C876}"/>
              </a:ext>
            </a:extLst>
          </p:cNvPr>
          <p:cNvSpPr txBox="1">
            <a:spLocks/>
          </p:cNvSpPr>
          <p:nvPr/>
        </p:nvSpPr>
        <p:spPr>
          <a:xfrm>
            <a:off x="320040" y="4846320"/>
            <a:ext cx="7589520" cy="40873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600" kern="1200" cap="all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89439760"/>
      </p:ext>
    </p:extLst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3904</TotalTime>
  <Words>1156</Words>
  <Application>Microsoft Macintosh PowerPoint</Application>
  <PresentationFormat>Widescreen</PresentationFormat>
  <Paragraphs>70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Arial Nova Light</vt:lpstr>
      <vt:lpstr>Univers Condensed</vt:lpstr>
      <vt:lpstr>Lines</vt:lpstr>
      <vt:lpstr>Gradient Leakage </vt:lpstr>
      <vt:lpstr>Motivation – Why have I spent time on this?</vt:lpstr>
      <vt:lpstr>Background</vt:lpstr>
      <vt:lpstr>What is Gradient Leakage?</vt:lpstr>
      <vt:lpstr>Threat model </vt:lpstr>
      <vt:lpstr>How do the attacks work?</vt:lpstr>
      <vt:lpstr>Gradient Leakage Optimisation Technique</vt:lpstr>
      <vt:lpstr>What makes gradient Leakage easier or harder? </vt:lpstr>
      <vt:lpstr>Proposed PET Solution (DP)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Zakaria Boulaich</dc:creator>
  <cp:lastModifiedBy>Zakaria Boulaich</cp:lastModifiedBy>
  <cp:revision>8</cp:revision>
  <dcterms:created xsi:type="dcterms:W3CDTF">2026-07-19T14:48:12Z</dcterms:created>
  <dcterms:modified xsi:type="dcterms:W3CDTF">2026-07-22T13:05:31Z</dcterms:modified>
</cp:coreProperties>
</file>